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Caveat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IBM Plex Mono Light"/>
      <p:regular r:id="rId27"/>
      <p:bold r:id="rId28"/>
      <p:italic r:id="rId29"/>
      <p:boldItalic r:id="rId30"/>
    </p:embeddedFont>
    <p:embeddedFont>
      <p:font typeface="IBM Plex Mono ExtraLight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IBM Plex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bold.fntdata"/><Relationship Id="rId20" Type="http://schemas.openxmlformats.org/officeDocument/2006/relationships/slide" Target="slides/slide14.xml"/><Relationship Id="rId42" Type="http://schemas.openxmlformats.org/officeDocument/2006/relationships/font" Target="fonts/IBMPlexMono-boldItalic.fntdata"/><Relationship Id="rId41" Type="http://schemas.openxmlformats.org/officeDocument/2006/relationships/font" Target="fonts/IBMPlexMono-italic.fntdata"/><Relationship Id="rId22" Type="http://schemas.openxmlformats.org/officeDocument/2006/relationships/font" Target="fonts/Caveat-bold.fntdata"/><Relationship Id="rId21" Type="http://schemas.openxmlformats.org/officeDocument/2006/relationships/font" Target="fonts/Caveat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IBMPlexMonoLight-bold.fntdata"/><Relationship Id="rId27" Type="http://schemas.openxmlformats.org/officeDocument/2006/relationships/font" Target="fonts/IBMPlexMono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Mon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MonoExtraLight-regular.fntdata"/><Relationship Id="rId30" Type="http://schemas.openxmlformats.org/officeDocument/2006/relationships/font" Target="fonts/IBMPlexMono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IBMPlexMonoExtraLight-italic.fntdata"/><Relationship Id="rId10" Type="http://schemas.openxmlformats.org/officeDocument/2006/relationships/slide" Target="slides/slide4.xml"/><Relationship Id="rId32" Type="http://schemas.openxmlformats.org/officeDocument/2006/relationships/font" Target="fonts/IBMPlexMonoExtraLight-bold.fntdata"/><Relationship Id="rId13" Type="http://schemas.openxmlformats.org/officeDocument/2006/relationships/slide" Target="slides/slide7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34" Type="http://schemas.openxmlformats.org/officeDocument/2006/relationships/font" Target="fonts/IBMPlexMonoExtraLight-boldItalic.fntdata"/><Relationship Id="rId15" Type="http://schemas.openxmlformats.org/officeDocument/2006/relationships/slide" Target="slides/slide9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8.xml"/><Relationship Id="rId36" Type="http://schemas.openxmlformats.org/officeDocument/2006/relationships/font" Target="fonts/RobotoMono-bold.fntdata"/><Relationship Id="rId17" Type="http://schemas.openxmlformats.org/officeDocument/2006/relationships/slide" Target="slides/slide11.xml"/><Relationship Id="rId39" Type="http://schemas.openxmlformats.org/officeDocument/2006/relationships/font" Target="fonts/IBMPlexMono-regular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92f66bb2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392f66bb2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92f66bb28e_1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92f66bb28e_1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bc177c67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bc177c67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92f66bb28e_1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92f66bb28e_1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c177c67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bc177c67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bc177c671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bc177c67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bc177c671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bc177c671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bc177c671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bc177c671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bc177c671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bc177c671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bc177c671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bc177c671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bc177c671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bc177c671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bc177c671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bc177c671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c177c671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bc177c671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bc177c671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bc177c671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6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7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17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" name="Google Shape;67;p17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7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" name="Google Shape;69;p17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7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" name="Google Shape;71;p17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7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" name="Google Shape;73;p17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7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6" name="Google Shape;76;p17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9" name="Google Shape;79;p17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8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8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8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8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18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18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9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1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1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0" name="Google Shape;140;p21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1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22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4" name="Google Shape;154;p22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2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161" name="Google Shape;161;p23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3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23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68" name="Google Shape;168;p23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23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0" name="Google Shape;170;p23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1" name="Google Shape;171;p23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3" name="Google Shape;173;p23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4" name="Google Shape;174;p23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5" name="Google Shape;175;p23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6" name="Google Shape;176;p23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77" name="Google Shape;177;p23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23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3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5" name="Google Shape;185;p24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6" name="Google Shape;186;p24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24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89" name="Google Shape;189;p24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1" name="Google Shape;191;p24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2" name="Google Shape;192;p24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3" name="Google Shape;193;p24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4" name="Google Shape;194;p24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5" name="Google Shape;195;p24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6" name="Google Shape;196;p24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99" name="Google Shape;199;p24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00" name="Google Shape;200;p24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4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07" name="Google Shape;207;p25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25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25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0" name="Google Shape;210;p25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1" name="Google Shape;211;p25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" name="Google Shape;212;p25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3" name="Google Shape;213;p25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4" name="Google Shape;214;p25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5" name="Google Shape;215;p25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16" name="Google Shape;216;p25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7" name="Google Shape;217;p25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8" name="Google Shape;218;p25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19" name="Google Shape;219;p25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0" name="Google Shape;220;p25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1" name="Google Shape;221;p25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2" name="Google Shape;222;p25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25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5" name="Google Shape;225;p25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6" name="Google Shape;226;p25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7" name="Google Shape;227;p25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8" name="Google Shape;228;p25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29" name="Google Shape;229;p25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31" name="Google Shape;231;p25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2" name="Google Shape;232;p25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25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6" name="Google Shape;256;p26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57" name="Google Shape;257;p26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58" name="Google Shape;258;p26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63" name="Google Shape;263;p26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26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7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8" name="Google Shape;288;p27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289" name="Google Shape;289;p27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90" name="Google Shape;290;p27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92" name="Google Shape;292;p27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293" name="Google Shape;293;p27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27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8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8" name="Google Shape;318;p28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19" name="Google Shape;319;p28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0" name="Google Shape;320;p28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21" name="Google Shape;321;p28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22" name="Google Shape;322;p28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5" name="Google Shape;325;p28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6" name="Google Shape;326;p2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28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331" name="Google Shape;331;p29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32" name="Google Shape;332;p29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33" name="Google Shape;333;p29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34" name="Google Shape;334;p2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29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0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62" name="Google Shape;362;p30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3" name="Google Shape;363;p30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4" name="Google Shape;364;p30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5" name="Google Shape;365;p30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6" name="Google Shape;366;p30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7" name="Google Shape;367;p30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368" name="Google Shape;368;p3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0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1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8" name="Google Shape;388;p31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9" name="Google Shape;389;p31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90" name="Google Shape;390;p31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1" name="Google Shape;391;p31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392" name="Google Shape;392;p3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1"/>
                </a:solidFill>
              </a:defRPr>
            </a:lvl1pPr>
            <a:lvl2pPr lvl="1" rtl="0" algn="r">
              <a:buNone/>
              <a:defRPr>
                <a:solidFill>
                  <a:schemeClr val="dk1"/>
                </a:solidFill>
              </a:defRPr>
            </a:lvl2pPr>
            <a:lvl3pPr lvl="2" rtl="0" algn="r">
              <a:buNone/>
              <a:defRPr>
                <a:solidFill>
                  <a:schemeClr val="dk1"/>
                </a:solidFill>
              </a:defRPr>
            </a:lvl3pPr>
            <a:lvl4pPr lvl="3" rtl="0" algn="r">
              <a:buNone/>
              <a:defRPr>
                <a:solidFill>
                  <a:schemeClr val="dk1"/>
                </a:solidFill>
              </a:defRPr>
            </a:lvl4pPr>
            <a:lvl5pPr lvl="4" rtl="0" algn="r">
              <a:buNone/>
              <a:defRPr>
                <a:solidFill>
                  <a:schemeClr val="dk1"/>
                </a:solidFill>
              </a:defRPr>
            </a:lvl5pPr>
            <a:lvl6pPr lvl="5" rtl="0" algn="r">
              <a:buNone/>
              <a:defRPr>
                <a:solidFill>
                  <a:schemeClr val="dk1"/>
                </a:solidFill>
              </a:defRPr>
            </a:lvl6pPr>
            <a:lvl7pPr lvl="6" rtl="0" algn="r">
              <a:buNone/>
              <a:defRPr>
                <a:solidFill>
                  <a:schemeClr val="dk1"/>
                </a:solidFill>
              </a:defRPr>
            </a:lvl7pPr>
            <a:lvl8pPr lvl="7" rtl="0" algn="r">
              <a:buNone/>
              <a:defRPr>
                <a:solidFill>
                  <a:schemeClr val="dk1"/>
                </a:solidFill>
              </a:defRPr>
            </a:lvl8pPr>
            <a:lvl9pPr lvl="8" rtl="0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31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2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32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422" name="Google Shape;422;p33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4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5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51" name="Google Shape;451;p35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35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6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71" name="Google Shape;471;p36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72" name="Google Shape;472;p36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36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8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94" name="Google Shape;494;p38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5" name="Google Shape;495;p38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9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0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4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41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4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1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41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7" name="Google Shape;517;p41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41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0" name="Google Shape;520;p42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42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42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42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42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42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42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42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8" name="Google Shape;528;p42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42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42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1" name="Google Shape;531;p42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2" name="Google Shape;532;p42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3" name="Google Shape;533;p42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4" name="Google Shape;534;p42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5" name="Google Shape;535;p42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536" name="Google Shape;536;p42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2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42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3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43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2" name="Google Shape;542;p43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4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4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4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44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1" name="Google Shape;561;p44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2" name="Google Shape;562;p4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44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4" name="Google Shape;564;p44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5" name="Google Shape;565;p44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4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4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4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45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4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4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45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45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5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45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45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4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4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4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4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45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45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45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9" name="Google Shape;589;p45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0" name="Google Shape;590;p45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1" name="Google Shape;591;p45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92" name="Google Shape;592;p45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3" name="Google Shape;593;p45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4" name="Google Shape;594;p45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4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4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4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4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4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4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4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4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4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4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4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46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46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16" name="Google Shape;616;p46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17" name="Google Shape;617;p46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8" name="Google Shape;618;p46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46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46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2" name="Google Shape;622;p46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3" name="Google Shape;623;p46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4" name="Google Shape;624;p46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5" name="Google Shape;625;p46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6" name="Google Shape;626;p46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7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4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4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4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4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4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4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4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4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4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4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4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4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4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47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7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47" name="Google Shape;647;p47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48" name="Google Shape;648;p47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49" name="Google Shape;649;p47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0" name="Google Shape;650;p47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51" name="Google Shape;651;p47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52" name="Google Shape;652;p47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48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4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48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4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4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4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4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4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4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48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48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74" name="Google Shape;674;p48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675" name="Google Shape;675;p48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76" name="Google Shape;676;p48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77" name="Google Shape;677;p48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48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79" name="Google Shape;679;p48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80" name="Google Shape;680;p48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81" name="Google Shape;681;p48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48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83" name="Google Shape;683;p48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84" name="Google Shape;684;p48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9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49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49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49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49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49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49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4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4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4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4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4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4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4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4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4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9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5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5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5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5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5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5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5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5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5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5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5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5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5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5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5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5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5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5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50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36" name="Google Shape;736;p50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7" name="Google Shape;737;p50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8" name="Google Shape;738;p50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9" name="Google Shape;739;p50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0" name="Google Shape;740;p50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1" name="Google Shape;741;p50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2" name="Google Shape;742;p50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3" name="Google Shape;743;p50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44" name="Google Shape;744;p50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38" Type="http://schemas.openxmlformats.org/officeDocument/2006/relationships/theme" Target="../theme/theme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1"/>
          <p:cNvSpPr txBox="1"/>
          <p:nvPr>
            <p:ph type="title"/>
          </p:nvPr>
        </p:nvSpPr>
        <p:spPr>
          <a:xfrm>
            <a:off x="412928" y="14873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endParaRPr/>
          </a:p>
        </p:txBody>
      </p:sp>
      <p:sp>
        <p:nvSpPr>
          <p:cNvPr id="750" name="Google Shape;750;p51"/>
          <p:cNvSpPr/>
          <p:nvPr/>
        </p:nvSpPr>
        <p:spPr>
          <a:xfrm>
            <a:off x="3368500" y="3169225"/>
            <a:ext cx="2830800" cy="39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Java 8 and Java 17</a:t>
            </a:r>
            <a:endParaRPr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2"/>
          <p:cNvSpPr txBox="1"/>
          <p:nvPr>
            <p:ph type="title"/>
          </p:nvPr>
        </p:nvSpPr>
        <p:spPr>
          <a:xfrm>
            <a:off x="395350" y="136850"/>
            <a:ext cx="38460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Introduction</a:t>
            </a:r>
            <a:endParaRPr sz="6000"/>
          </a:p>
        </p:txBody>
      </p:sp>
      <p:sp>
        <p:nvSpPr>
          <p:cNvPr id="756" name="Google Shape;756;p52"/>
          <p:cNvSpPr txBox="1"/>
          <p:nvPr>
            <p:ph idx="1" type="body"/>
          </p:nvPr>
        </p:nvSpPr>
        <p:spPr>
          <a:xfrm>
            <a:off x="653325" y="1146000"/>
            <a:ext cx="7011600" cy="33918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Basics (</a:t>
            </a:r>
            <a:r>
              <a:rPr b="1" lang="en"/>
              <a:t>Prerequisites</a:t>
            </a:r>
            <a:r>
              <a:rPr b="1" lang="en"/>
              <a:t>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Constructor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OOPs concepts - Abstraction, Encapsulation, Inheritance, Polymorphism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JDK, JRE, JVM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 Modifiers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Type Casting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Java Collections - List, Queue, Set, Map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ENUM, POJO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Memory Management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Exception Handling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Reflections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3"/>
          <p:cNvSpPr txBox="1"/>
          <p:nvPr>
            <p:ph idx="1" type="body"/>
          </p:nvPr>
        </p:nvSpPr>
        <p:spPr>
          <a:xfrm>
            <a:off x="572100" y="577525"/>
            <a:ext cx="3849600" cy="32745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Issues Earlier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Verbose &amp; boilerplate-heavy code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 easy way to pass behavior (functions)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Collections required manual looping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Interfaces couldn’t evolve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Poor support for parallel processing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188038"/>
                </a:solidFill>
              </a:rPr>
              <a:t>null</a:t>
            </a:r>
            <a:r>
              <a:rPr lang="en" sz="1300"/>
              <a:t> used to represent “absence” → runtime failures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2" name="Google Shape;762;p53" title="Screenshot 2026-01-29 at 00.04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350" y="1761000"/>
            <a:ext cx="4205974" cy="13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4"/>
          <p:cNvSpPr txBox="1"/>
          <p:nvPr>
            <p:ph idx="1" type="body"/>
          </p:nvPr>
        </p:nvSpPr>
        <p:spPr>
          <a:xfrm>
            <a:off x="841675" y="1130600"/>
            <a:ext cx="3438000" cy="37629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8 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Interfaces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Lambda expression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Stream API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Predicates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Optional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4"/>
          <p:cNvSpPr txBox="1"/>
          <p:nvPr>
            <p:ph idx="2" type="body"/>
          </p:nvPr>
        </p:nvSpPr>
        <p:spPr>
          <a:xfrm>
            <a:off x="4893925" y="1130600"/>
            <a:ext cx="3438000" cy="37629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 17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Records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Sealed Classes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Text Blocks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instanceof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5"/>
          <p:cNvSpPr txBox="1"/>
          <p:nvPr/>
        </p:nvSpPr>
        <p:spPr>
          <a:xfrm>
            <a:off x="270700" y="1082825"/>
            <a:ext cx="4060800" cy="3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Interface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 interface defines a contract: what a class must do, not how.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supports abstraction and multiple inheritance of behavior (via implementation).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Methods are public and abstract by default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Fields are public static final (constants only)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method implementations allowed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class can implement multiple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55" title="Screenshot 2026-01-29 at 00.10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1925" y="2949750"/>
            <a:ext cx="4128701" cy="1992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5" title="Screenshot 2026-01-29 at 00.10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900" y="152400"/>
            <a:ext cx="347826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6"/>
          <p:cNvSpPr txBox="1"/>
          <p:nvPr/>
        </p:nvSpPr>
        <p:spPr>
          <a:xfrm>
            <a:off x="658725" y="974550"/>
            <a:ext cx="38262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6"/>
          <p:cNvSpPr txBox="1"/>
          <p:nvPr/>
        </p:nvSpPr>
        <p:spPr>
          <a:xfrm>
            <a:off x="433125" y="1037725"/>
            <a:ext cx="4286400" cy="3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Lambda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lambda expression is a short way to pass behavior (function) as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removes anonymous class boilerplate.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Syntax: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(parameters) -&gt; expression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(parameters) -&gt; { statements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 - (a, b) -&gt; a + b</a:t>
            </a:r>
            <a:endParaRPr/>
          </a:p>
        </p:txBody>
      </p:sp>
      <p:pic>
        <p:nvPicPr>
          <p:cNvPr id="782" name="Google Shape;782;p56" title="Screenshot 2026-01-29 at 00.19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350" y="984213"/>
            <a:ext cx="4119675" cy="334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7"/>
          <p:cNvSpPr txBox="1"/>
          <p:nvPr/>
        </p:nvSpPr>
        <p:spPr>
          <a:xfrm>
            <a:off x="586559" y="848236"/>
            <a:ext cx="3735900" cy="3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Streams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Stream lets you process collections declaratively (what to do, not how), using a pipeline of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Streams are not data structures; they are wrappers around data sources that allow us to operate on that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 parts: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Source: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Array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Intermediate Operations: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filter()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sorted()</a:t>
            </a:r>
            <a:r>
              <a:rPr lang="en"/>
              <a:t> (They return a new stream).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Terminal Operation: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collect()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forEach()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count()</a:t>
            </a:r>
            <a:r>
              <a:rPr lang="en"/>
              <a:t> (They trigger the processing).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8" name="Google Shape;788;p57" title="Screenshot 2026-01-29 at 00.27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48236"/>
            <a:ext cx="4381400" cy="1915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57" title="Screenshot 2026-01-29 at 00.28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7525" y="3157275"/>
            <a:ext cx="4330349" cy="143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58"/>
          <p:cNvSpPr txBox="1"/>
          <p:nvPr/>
        </p:nvSpPr>
        <p:spPr>
          <a:xfrm>
            <a:off x="902375" y="884325"/>
            <a:ext cx="32034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Predicate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Predicate</a:t>
            </a:r>
            <a:r>
              <a:rPr lang="en"/>
              <a:t> represents a </a:t>
            </a:r>
            <a:r>
              <a:rPr b="1" lang="en"/>
              <a:t>boolean condition</a:t>
            </a:r>
            <a:r>
              <a:rPr lang="en"/>
              <a:t> (true / false) on an object.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mainly used for </a:t>
            </a:r>
            <a:r>
              <a:rPr b="1" lang="en"/>
              <a:t>filtering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Syntax: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Predicate&lt;T&gt; → boolean test(T 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58" title="Screenshot 2026-01-29 at 00.39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825" y="640675"/>
            <a:ext cx="4122325" cy="167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8" title="Screenshot 2026-01-29 at 00.39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813" y="2880275"/>
            <a:ext cx="4197500" cy="15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9"/>
          <p:cNvSpPr txBox="1"/>
          <p:nvPr/>
        </p:nvSpPr>
        <p:spPr>
          <a:xfrm>
            <a:off x="757975" y="514350"/>
            <a:ext cx="3943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Optional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Optional</a:t>
            </a:r>
            <a:r>
              <a:rPr lang="en"/>
              <a:t> is a container that may or may not hold a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helps </a:t>
            </a:r>
            <a:r>
              <a:rPr b="1" lang="en"/>
              <a:t>avoid NullPointerException</a:t>
            </a:r>
            <a:r>
              <a:rPr lang="en"/>
              <a:t> and makes absence explicit.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Instead of returning </a:t>
            </a:r>
            <a:r>
              <a:rPr lang="en" sz="1300">
                <a:solidFill>
                  <a:srgbClr val="188038"/>
                </a:solidFill>
              </a:rPr>
              <a:t>null</a:t>
            </a:r>
            <a:r>
              <a:rPr lang="en" sz="1300"/>
              <a:t>, return an </a:t>
            </a:r>
            <a:r>
              <a:rPr lang="en" sz="1300">
                <a:solidFill>
                  <a:srgbClr val="188038"/>
                </a:solidFill>
              </a:rPr>
              <a:t>Optional</a:t>
            </a:r>
            <a:r>
              <a:rPr lang="en" sz="1300"/>
              <a:t> container.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Best practices</a:t>
            </a:r>
            <a:endParaRPr b="1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Use </a:t>
            </a:r>
            <a:r>
              <a:rPr lang="en">
                <a:solidFill>
                  <a:srgbClr val="188038"/>
                </a:solidFill>
              </a:rPr>
              <a:t>.ifPresent()</a:t>
            </a:r>
            <a:r>
              <a:rPr lang="en"/>
              <a:t> to execute code only if a value exists.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Use </a:t>
            </a:r>
            <a:r>
              <a:rPr lang="en">
                <a:solidFill>
                  <a:srgbClr val="188038"/>
                </a:solidFill>
              </a:rPr>
              <a:t>.orElse()</a:t>
            </a:r>
            <a:r>
              <a:rPr lang="en"/>
              <a:t> to provide a default value.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</a:t>
            </a:r>
            <a:r>
              <a:rPr lang="en">
                <a:solidFill>
                  <a:srgbClr val="188038"/>
                </a:solidFill>
              </a:rPr>
              <a:t>.orElseGet()</a:t>
            </a:r>
            <a:r>
              <a:rPr lang="en"/>
              <a:t> for lazy.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i="1" lang="en"/>
              <a:t>Example: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</a:rPr>
              <a:t>user.getEmail().orElse("no-email@company.com");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2" name="Google Shape;802;p59" title="Screenshot 2026-01-29 at 00.47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8875" y="692325"/>
            <a:ext cx="4082725" cy="155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59" title="Screenshot 2026-01-29 at 00.47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8875" y="2838950"/>
            <a:ext cx="4082725" cy="1471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0"/>
          <p:cNvSpPr txBox="1"/>
          <p:nvPr/>
        </p:nvSpPr>
        <p:spPr>
          <a:xfrm>
            <a:off x="760900" y="776025"/>
            <a:ext cx="3624600" cy="3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Record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record</a:t>
            </a:r>
            <a:r>
              <a:rPr lang="en"/>
              <a:t> is a special class used to </a:t>
            </a:r>
            <a:r>
              <a:rPr b="1" lang="en"/>
              <a:t>store immutable data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removes boilerplate for data-carrier classes.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9" name="Google Shape;809;p60" title="Screenshot 2026-01-29 at 00.52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75" y="152400"/>
            <a:ext cx="3875100" cy="448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0" title="Screenshot 2026-01-29 at 00.52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468" y="2743050"/>
            <a:ext cx="3564032" cy="14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1"/>
          <p:cNvSpPr txBox="1"/>
          <p:nvPr/>
        </p:nvSpPr>
        <p:spPr>
          <a:xfrm>
            <a:off x="649700" y="884325"/>
            <a:ext cx="38712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Sealed Class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sealed class</a:t>
            </a:r>
            <a:r>
              <a:rPr lang="en"/>
              <a:t> restricts </a:t>
            </a:r>
            <a:r>
              <a:rPr b="1" lang="en"/>
              <a:t>which classes are allowed to extend or implement it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explicitly control the inheritance hierarchy.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Keywords: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</a:rPr>
              <a:t>sealed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</a:rPr>
              <a:t>permits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</a:rPr>
              <a:t>non-sealed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</a:rPr>
              <a:t>final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Permitted subclasses must be: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"/>
              <a:t> (no further extension), or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sealed</a:t>
            </a:r>
            <a:r>
              <a:rPr lang="en"/>
              <a:t> (restrict further), or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non-sealed</a:t>
            </a:r>
            <a:r>
              <a:rPr lang="en"/>
              <a:t> (open again)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</a:endParaRPr>
          </a:p>
        </p:txBody>
      </p:sp>
      <p:pic>
        <p:nvPicPr>
          <p:cNvPr id="816" name="Google Shape;816;p61" title="Screenshot 2026-01-29 at 01.04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901" y="1007275"/>
            <a:ext cx="4295924" cy="14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61" title="Screenshot 2026-01-29 at 01.06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900" y="3087375"/>
            <a:ext cx="4344425" cy="1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2"/>
          <p:cNvSpPr txBox="1"/>
          <p:nvPr/>
        </p:nvSpPr>
        <p:spPr>
          <a:xfrm>
            <a:off x="532375" y="721900"/>
            <a:ext cx="385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Pattern Matching for </a:t>
            </a:r>
            <a:r>
              <a:rPr b="1" lang="en">
                <a:solidFill>
                  <a:srgbClr val="188038"/>
                </a:solidFill>
              </a:rPr>
              <a:t>instanceof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lets you check a type and cast it at the same time</a:t>
            </a:r>
            <a:r>
              <a:rPr lang="en"/>
              <a:t>,</a:t>
            </a:r>
            <a:r>
              <a:rPr lang="en"/>
              <a:t> safely and cleanly.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3" name="Google Shape;823;p62" title="Screenshot 2026-01-29 at 01.14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575" y="406075"/>
            <a:ext cx="3907124" cy="14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2"/>
          <p:cNvSpPr txBox="1"/>
          <p:nvPr/>
        </p:nvSpPr>
        <p:spPr>
          <a:xfrm>
            <a:off x="532375" y="2174725"/>
            <a:ext cx="40395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</a:t>
            </a:r>
            <a:r>
              <a:rPr b="1" lang="en"/>
              <a:t>witch</a:t>
            </a:r>
            <a:r>
              <a:rPr lang="en"/>
              <a:t> is now an expression (it returns a value) rather than just a statement.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replaces long switch + break logic.</a:t>
            </a:r>
            <a:endParaRPr/>
          </a:p>
        </p:txBody>
      </p:sp>
      <p:pic>
        <p:nvPicPr>
          <p:cNvPr id="825" name="Google Shape;825;p62" title="Screenshot 2026-01-29 at 01.22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1575" y="2080525"/>
            <a:ext cx="3907125" cy="1376506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62"/>
          <p:cNvSpPr txBox="1"/>
          <p:nvPr/>
        </p:nvSpPr>
        <p:spPr>
          <a:xfrm>
            <a:off x="532400" y="3636550"/>
            <a:ext cx="40395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Text blocks </a:t>
            </a:r>
            <a:r>
              <a:rPr lang="en"/>
              <a:t>allow multi-line strings without ugly escaping.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- </a:t>
            </a:r>
            <a:r>
              <a:rPr lang="en" sz="1300"/>
              <a:t>Triple quotes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"""</a:t>
            </a:r>
            <a:r>
              <a:rPr lang="en" sz="1300"/>
              <a:t>.</a:t>
            </a:r>
            <a:endParaRPr sz="1600"/>
          </a:p>
        </p:txBody>
      </p:sp>
      <p:pic>
        <p:nvPicPr>
          <p:cNvPr id="827" name="Google Shape;827;p62" title="Screenshot 2026-01-29 at 01.27.0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1575" y="3587925"/>
            <a:ext cx="3907124" cy="12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3"/>
          <p:cNvSpPr txBox="1"/>
          <p:nvPr/>
        </p:nvSpPr>
        <p:spPr>
          <a:xfrm>
            <a:off x="748975" y="812125"/>
            <a:ext cx="6343800" cy="30231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Topics to explore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Design Patterns - Factory, </a:t>
            </a:r>
            <a:r>
              <a:rPr lang="en"/>
              <a:t>Observer, Strategy, Singleton, Builder, etc.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SOLID principles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MVC pattern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CompletableFuture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Concurrency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Resources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Head First Java Book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Head First Design Patterns Book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4"/>
          <p:cNvSpPr txBox="1"/>
          <p:nvPr>
            <p:ph type="title"/>
          </p:nvPr>
        </p:nvSpPr>
        <p:spPr>
          <a:xfrm>
            <a:off x="412928" y="1487375"/>
            <a:ext cx="86433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